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" y="434340"/>
            <a:ext cx="3383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ЛСР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840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12121"/>
                </a:solidFill>
                <a:latin typeface="Arial"/>
              </a:rPr>
              <a:t>ГРУППА ЛСР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5669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C5C5C"/>
                </a:solidFill>
                <a:latin typeface="Arial"/>
              </a:rPr>
              <a:t>практика сделки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438912"/>
            <a:ext cx="713232" cy="7315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34747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5C5C5C"/>
                </a:solidFill>
                <a:latin typeface="Arial"/>
              </a:rPr>
              <a:t>01</a:t>
            </a:r>
          </a:p>
        </p:txBody>
      </p:sp>
      <p:pic>
        <p:nvPicPr>
          <p:cNvPr id="9" name="Picture 8" descr="slide1_photo_93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22960"/>
            <a:ext cx="5074920" cy="5413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7960" y="822960"/>
            <a:ext cx="5074920" cy="5413248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078992"/>
            <a:ext cx="146304" cy="464515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051560"/>
            <a:ext cx="1691640" cy="292608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120140"/>
            <a:ext cx="1453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ПОКУПКА / ПРОДАЖА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5532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212121"/>
                </a:solidFill>
                <a:latin typeface="Arial"/>
              </a:rPr>
              <a:t>Как заключить сделку купли-продажи недвижимости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27248"/>
            <a:ext cx="5257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C5C5C"/>
                </a:solidFill>
                <a:latin typeface="Arial"/>
              </a:rPr>
              <a:t>Короткий маршрут: от проверки объекта и согласования условий до регистрации права и передачи ключей.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69080"/>
            <a:ext cx="393192" cy="39319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78808"/>
            <a:ext cx="21945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15137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Arial"/>
              </a:rPr>
              <a:t>Проверить объект и участников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17720"/>
            <a:ext cx="393192" cy="39319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27448"/>
            <a:ext cx="21945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70001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Arial"/>
              </a:rPr>
              <a:t>Зафиксировать условия договора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66360"/>
            <a:ext cx="393192" cy="39319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276088"/>
            <a:ext cx="21945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2486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Arial"/>
              </a:rPr>
              <a:t>Зарегистрировать переход права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074920"/>
            <a:ext cx="3566160" cy="804672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532180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Принцип: деньги, документы и сроки движутся по одному согласованному сценарию.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DFE2E7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5C5C5C"/>
                </a:solidFill>
                <a:latin typeface="Arial"/>
              </a:rPr>
              <a:t>Фото: Pixabay (https://pixabay.com/photos/residential-complex-building-6996596/)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1">
                <a:solidFill>
                  <a:srgbClr val="5C5C5C"/>
                </a:solidFill>
                <a:latin typeface="Arial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solidFill>
              <a:srgbClr val="F6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" y="434340"/>
            <a:ext cx="3383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ЛСР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840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12121"/>
                </a:solidFill>
                <a:latin typeface="Arial"/>
              </a:rPr>
              <a:t>ГРУППА ЛСР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5669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C5C5C"/>
                </a:solidFill>
                <a:latin typeface="Arial"/>
              </a:rPr>
              <a:t>практика сделки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438912"/>
            <a:ext cx="713232" cy="7315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34747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5C5C5C"/>
                </a:solidFill>
                <a:latin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32688"/>
            <a:ext cx="1417320" cy="292608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001268"/>
            <a:ext cx="117957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ДО ДОГОВОРА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12121"/>
                </a:solidFill>
                <a:latin typeface="Arial"/>
              </a:rPr>
              <a:t>Что нужно подготовить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C5C5C"/>
                </a:solidFill>
                <a:latin typeface="Arial"/>
              </a:rPr>
              <a:t>Главная задача подготовки — заранее убрать юридические, финансовые и организационные неопределенности.</a:t>
            </a:r>
          </a:p>
        </p:txBody>
      </p:sp>
      <p:pic>
        <p:nvPicPr>
          <p:cNvPr id="13" name="Picture 12" descr="slide2_photo_960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87552"/>
            <a:ext cx="4343400" cy="32552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0" y="822960"/>
            <a:ext cx="109728" cy="3611880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21240" y="3950208"/>
            <a:ext cx="1005840" cy="34747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0112" y="4041648"/>
            <a:ext cx="7315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проверка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889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971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31226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291840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Объект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685032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C5C5C"/>
                </a:solidFill>
                <a:latin typeface="Arial"/>
              </a:rPr>
              <a:t>Выписка ЕГРН, обременения, история владения, перепланировки, задолженности и основания права.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889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71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31226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91840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Стороны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85032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C5C5C"/>
                </a:solidFill>
                <a:latin typeface="Arial"/>
              </a:rPr>
              <a:t>Паспорта, семейный статус, согласия, полномочия представителя, дееспособность и действительность доверенностей.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73168"/>
            <a:ext cx="352044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560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31226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7608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Расчеты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669280"/>
            <a:ext cx="311810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C5C5C"/>
                </a:solidFill>
                <a:latin typeface="Arial"/>
              </a:rPr>
              <a:t>Цена, аванс или задаток, ипотека, аккредитив, эскроу или ячейка, условия раскрытия денег.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773168"/>
            <a:ext cx="352044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9560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31226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7608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Сроки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669280"/>
            <a:ext cx="311810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C5C5C"/>
                </a:solidFill>
                <a:latin typeface="Arial"/>
              </a:rPr>
              <a:t>Дата подписания, подача на регистрацию, освобождение объекта, передача ключей и ответственность за срыв.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DFE2E7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5C5C5C"/>
                </a:solidFill>
                <a:latin typeface="Arial"/>
              </a:rPr>
              <a:t>Фото: Pixabay (https://pixabay.com/photos/signing-paper-document-stamp-deal-6598540/)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1">
                <a:solidFill>
                  <a:srgbClr val="5C5C5C"/>
                </a:solidFill>
                <a:latin typeface="Arial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0040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" y="434340"/>
            <a:ext cx="3383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ЛСР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840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12121"/>
                </a:solidFill>
                <a:latin typeface="Arial"/>
              </a:rPr>
              <a:t>ГРУППА ЛСР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5669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C5C5C"/>
                </a:solidFill>
                <a:latin typeface="Arial"/>
              </a:rPr>
              <a:t>практика сделки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438912"/>
            <a:ext cx="713232" cy="7315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34747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5C5C5C"/>
                </a:solidFill>
                <a:latin typeface="Arial"/>
              </a:rPr>
              <a:t>03</a:t>
            </a:r>
          </a:p>
        </p:txBody>
      </p:sp>
      <p:pic>
        <p:nvPicPr>
          <p:cNvPr id="9" name="Picture 8" descr="slide3_photo_86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51960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9312" y="0"/>
            <a:ext cx="219456" cy="6858000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2412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Финальный этап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481328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Подписание,
расчеты и регистрация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26280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Право собственности возникает после государственной регистрации перехода права.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932688"/>
            <a:ext cx="1783080" cy="292608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001268"/>
            <a:ext cx="154533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ПОРЯДОК ДЕЙСТВИЙ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353312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212121"/>
                </a:solidFill>
                <a:latin typeface="Arial"/>
              </a:rPr>
              <a:t>Четыре шага к закрытой сделке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148840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267712"/>
            <a:ext cx="1645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167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Arial"/>
              </a:rPr>
              <a:t>Подписать договор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45973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5C5C"/>
                </a:solidFill>
                <a:latin typeface="Arial"/>
              </a:rPr>
              <a:t>Существенные условия, цена, порядок оплаты, сроки освобождения и передачи объекта.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935224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054096"/>
            <a:ext cx="1645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9535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Arial"/>
              </a:rPr>
              <a:t>Подать документы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5C5C"/>
                </a:solidFill>
                <a:latin typeface="Arial"/>
              </a:rPr>
              <a:t>МФЦ, Росреестр или электронная регистрация через банк/нотариуса.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721608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840480"/>
            <a:ext cx="1645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7398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Arial"/>
              </a:rPr>
              <a:t>Раскрыть расчеты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403250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5C5C"/>
                </a:solidFill>
                <a:latin typeface="Arial"/>
              </a:rPr>
              <a:t>Деньги передаются по условиям аккредитива, эскроу, ячейки или иной безопасной схемы.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4507992"/>
            <a:ext cx="438912" cy="438912"/>
          </a:xfrm>
          <a:prstGeom prst="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626864"/>
            <a:ext cx="16459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45262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Arial"/>
              </a:rPr>
              <a:t>Принять объект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944" y="48188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5C5C"/>
                </a:solidFill>
                <a:latin typeface="Arial"/>
              </a:rPr>
              <a:t>Выписка ЕГРН, акт приема-передачи, ключи, счетчики и подтверждение взаиморасчетов.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4526280"/>
            <a:ext cx="2743200" cy="1325880"/>
          </a:xfrm>
          <a:prstGeom prst="roundRect">
            <a:avLst/>
          </a:prstGeom>
          <a:solidFill>
            <a:srgbClr val="D31226"/>
          </a:solidFill>
          <a:ln>
            <a:solidFill>
              <a:srgbClr val="D3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47183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Финальный чек-лист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5047488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850">
                <a:solidFill>
                  <a:srgbClr val="FFFFFF"/>
                </a:solidFill>
                <a:latin typeface="Arial"/>
              </a:rPr>
              <a:t>• договор и акт подписаны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FFFFFF"/>
                </a:solidFill>
                <a:latin typeface="Arial"/>
              </a:rPr>
              <a:t>• расчеты подтверждены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FFFFFF"/>
                </a:solidFill>
                <a:latin typeface="Arial"/>
              </a:rPr>
              <a:t>• выписка ЕГРН получена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6126480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" b="0">
                <a:solidFill>
                  <a:srgbClr val="5C5C5C"/>
                </a:solidFill>
                <a:latin typeface="Arial"/>
              </a:rPr>
              <a:t>Материал носит информационный характер; условия сделки нужно сверять с юристом, банком или нотариусом.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DFE2E7"/>
          </a:solidFill>
          <a:ln>
            <a:solidFill>
              <a:srgbClr val="DF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5C5C5C"/>
                </a:solidFill>
                <a:latin typeface="Arial"/>
              </a:rPr>
              <a:t>Фото: Pixabay (https://pixabay.com/photos/housing-real-estate-estate-mortgage-1647624/)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1">
                <a:solidFill>
                  <a:srgbClr val="5C5C5C"/>
                </a:solidFill>
                <a:latin typeface="Arial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